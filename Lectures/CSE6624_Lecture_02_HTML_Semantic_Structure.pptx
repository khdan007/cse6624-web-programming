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(улыбнись — Hello + номер лекции + тема.)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 полоску; укажи на 15/5/25/5)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Document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Semantic landmarks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Why semantics matter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(прочитай) Укажи на ключевые пункты: head essentials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(указывай на код/UI; не открывай другие файлы)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(25 мин. Ходи по рядам. Стой.)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(шаг 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(три ошибки)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(done checklist)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(next + AI — без Questions)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(улыбка. Без Questions.)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1704415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3200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SATBAYEV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836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D0E0F0"/>
                </a:solidFill>
                <a:latin typeface="Calibri"/>
                <a:ea typeface="Calibri"/>
                <a:cs typeface="Calibri"/>
              </a:rPr>
              <a:t>Automation and Information Technology  ·  Software Engineering</a:t>
            </a:r>
          </a:p>
        </p:txBody>
      </p:sp>
      <p:pic>
        <p:nvPicPr>
          <p:cNvPr id="7" name="Picture 6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164592"/>
            <a:ext cx="562021" cy="96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691640"/>
            <a:ext cx="1463040" cy="38404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8229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Introduction to Web Programming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Lecture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HTML Semantic 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320040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Shoiynbek Temirlan Armanuly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Senior Lecturer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Programme: 6B06102 Computer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Autumn 2026–2027  ·  Almaty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City University / Satbayev University  ·  English-taught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Today's plan  ·  50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417320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581912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18488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508760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~15 min — I explain (diagrams + you listen)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1819656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I read the strips. You look at the diagrams. No typing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276856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441448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4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368296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Demo on these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679192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Code / UI is ON the slides. I only point. Do not open other folders.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36392"/>
            <a:ext cx="11338560" cy="804672"/>
          </a:xfrm>
          <a:prstGeom prst="round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300984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227832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~25 min — You do the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3538728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Step-by-step ON the slides. Follow every click. If stuck: read the previous step again.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95928"/>
            <a:ext cx="11338560" cy="80467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4160520"/>
            <a:ext cx="1051560" cy="475488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197096"/>
            <a:ext cx="1051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087368"/>
            <a:ext cx="9784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~5 min — What to submit / next lecture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398264"/>
            <a:ext cx="9784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Photo proof + show neighbour. One-line preview of next week.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493776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93776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502920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Today's plan is fixed to fifty minutes. About fifteen minutes I explain with diagrams. About five minutes I point at demo code on these slides — you watch. About twenty-five minutes you follow the task steps on the slides. The last five minutes cover what to submit and what comes next. There is no separate questions block — if stuck, read the previous step again.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Document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2_Document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Document structure. First: Every page: &lt;!DOCTYPE html&gt; then &lt;html&gt;, &lt;head&gt;, &lt;body&gt;. Second: lang attribute on &lt;html&gt; helps a11y and SEO. Also notice: head = metadata; body = visible content.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Semantic landmarks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2_Semantic_land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Semantic landmarks. First: header, nav, main, section, article, aside, footer. Second: Landmarks describe roles — not just visual boxes. Also notice: Prefer one &lt;main&gt; per page.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Why semantics matter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2_Why_semantics_m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Why semantics matter. First: Accessibility: screen readers navigate by landmarks. Second: SEO: search engines understand page structure. Also notice: Teamwork: clearer code than div soup.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head essentials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SE6624_2_head_essent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11155680" cy="3337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4956048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4956048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5047488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Today we examine head essentials. First: &lt;meta charset="UTF-8"&gt; — always. Second: &lt;meta name="viewport" content="width=device-width, initial-scale=1"&gt;. Also notice: &lt;title&gt; — appears in the tab; unique per page. So the key idea is precise terminology — these distinctions return in demos, labs, and assessment.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1/3 — Bad: div soup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&lt;div id="top"&gt;Site&lt;/div&gt;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&lt;div class="menu"&gt;Home&lt;/div&gt;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&lt;div class="content"&gt;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&lt;div class="title"&gt;Hello&lt;/div&gt;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&lt;/div&gt;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&lt;div id="bottom"&gt;© 2026&lt;/div&gt;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This works visually — but machines and screen readers cannot see the structure.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2/3 — Good: landmarks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527048"/>
            <a:ext cx="10917936" cy="3026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&lt;html lang="en"&gt;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&lt;title&gt;Semantic Demo&lt;/title&gt;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&lt;header&gt;&lt;h1&gt;My Site&lt;/h1&gt;&lt;/header&gt;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&lt;nav&gt;&lt;a href="#"&gt;Home&lt;/a&gt; · &lt;a href="#"&gt;About&lt;/a&gt;&lt;/nav&gt;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&lt;main&gt;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&lt;h2&gt;Welcome&lt;/h2&gt;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&lt;p&gt;Main content lives here.&lt;/p&gt;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&lt;/main&gt;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&lt;footer&gt;&lt;p&gt;© 2026&lt;/p&gt;&lt;/footer&gt;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header · nav · main · footer — remember these four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code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9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DEMO 3/3 — Browser outline 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11247120" cy="3246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107899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Document outline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H1  My Site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  H2  Welcome</a:t>
            </a:r>
          </a:p>
          <a:p>
            <a:r>
              <a:rPr sz="1400" b="0" i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Landmarks: banner · navigation · main · contentinfo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One h1. Main holds the primary content. Footer is last.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Please watch this demo on the slide — do not type yet. I will point at the layout so you see the exact target. In the task block you will reproduce these steps on your laptop. Everything you need is here; you do not leave this presentation.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10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TASK  ·  ~25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09728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TASK — Rebuild with semantic landmarks (~25 min)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Work on YOUR laptop now. Follow the numbered steps on the next slides.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73552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927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Suggested folder name: lecture02-yourname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12464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If stuck: read the previous step again. Do not skip steps.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51376"/>
            <a:ext cx="1124712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97096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AI is optional later — first follow the steps yourself.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Now you work. The next slides are idiot-proof steps — one action after another. I will walk the room while you build. If something fails, open the If it does not work slide after the steps. Do not invent your own path during these twenty-five minutes.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11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1 of 5  ·  New folder + new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New folder + new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Desktop → New Folder → lecture02-yourname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Open VS Code → File → New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1.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12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2 of 5  ·  Type the full semantic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Type the full semantic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Type EXACTLY this (change text to your name/topic if you want):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2523744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3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478024"/>
            <a:ext cx="10917936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&lt;!DOCTYPE html&gt;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&lt;html lang="en"&gt;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&lt;head&gt;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&lt;meta charset="UTF-8"&gt;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&lt;title&gt;Lecture 02 — Semantic&lt;/title&gt;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&lt;/head&gt;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&lt;body&gt;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&lt;header&gt;&lt;h1&gt;My Site&lt;/h1&gt;&lt;/header&gt;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&lt;nav&gt;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&lt;a href="#"&gt;Home&lt;/a&gt; |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&lt;a href="#"&gt;About&lt;/a&gt;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&lt;/nav&gt;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&lt;main&gt;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&lt;h2&gt;Welcome&lt;/h2&gt;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&lt;p&gt;This is the main content.&lt;/p&gt;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&lt;h2&gt;About me&lt;/h2&gt;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  &lt;p&gt;I am learning HTML structure.&lt;/p&gt;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&lt;/main&gt;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  &lt;footer&gt;&lt;p&gt;© 2026 Your Name&lt;/p&gt;&lt;/footer&gt;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&lt;/body&gt;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D4D4D8"/>
                </a:solidFill>
                <a:latin typeface="Consolas"/>
                <a:ea typeface="Consolas"/>
                <a:cs typeface="Consolas"/>
              </a:rPr>
              <a:t>&lt;/html&gt;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2.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13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3 of 5  ·  Save as index.html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Save as index.html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File → Save As… → Desktop/lecture02-yourname/index.html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Confirm the name ends with .html not 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3.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14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4 of 5  ·  Open in Chrome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Open in Chrome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Right-click index.html → Open with Chrome.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You should SEE: title, two links, two sections, footer.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4.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15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Step 5 of 5  ·  Self-check landmarks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640080" cy="50292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6400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17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Self-check landmarks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965960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02536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Look at your code: do you have &lt;header&gt;, &lt;nav&gt;, &lt;main&gt;, &lt;footer&gt;?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68296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04872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Is there exactly one &lt;h1&gt;?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70632"/>
            <a:ext cx="1124712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8072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→  If a tag is missing — add it, Save (Ctrl+S), refresh browser (F5).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This is step 5. Do only this step, then wait for the next slide. Click the menus named on the slide — File, Save As, Open with. When the action is done, look up. If it failed, do not jump ahead — reread this step slowly.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16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If it does not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Three common mistakes — fix these before asking for help: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87451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4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039111"/>
            <a:ext cx="1188720" cy="457200"/>
          </a:xfrm>
          <a:prstGeom prst="roundRect">
            <a:avLst/>
          </a:prstGeom>
          <a:solidFill>
            <a:srgbClr val="C4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7568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03911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Used only &lt;div&gt; — replace with header/nav/main/footer.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19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907791"/>
            <a:ext cx="1188720" cy="457200"/>
          </a:xfrm>
          <a:prstGeom prst="round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4436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0779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Several &lt;h1&gt; tags — keep one h1; use h2 inside main.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79"/>
            <a:ext cx="11247120" cy="7772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776471"/>
            <a:ext cx="118872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13047"/>
            <a:ext cx="1188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Mistake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776471"/>
            <a:ext cx="9509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Saved as .txt — rename to index.html and reopen in browser.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Most failures are save mistakes, wrong file names, or skipped steps. Read these three mistakes aloud if needed. Fix one thing, save, refresh the browser, then re-check the success condition. Still stuck after that — raise your hand; bring your screen.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17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DONE — what to submit / show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11247120" cy="548640"/>
          </a:xfrm>
          <a:prstGeom prst="roundRect">
            <a:avLst/>
          </a:prstGeom>
          <a:solidFill>
            <a:srgbClr val="E6F5EC"/>
          </a:solidFill>
          <a:ln w="1905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57276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59105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59105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Browser photo showing the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0312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3113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23113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Editor photo showing header/nav/main/footer tags.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1124712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852928"/>
            <a:ext cx="502920" cy="329184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71216"/>
            <a:ext cx="502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871216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Show neighbour your landmarks.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are done when the checklist is true. Take a photo of the browser and of the file or folder. Show your neighbour for ten seconds. Upload later if the LMS asks — keep the folder on your Desktop.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"/>
            <a:ext cx="12191695" cy="36576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090825" cy="438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4560" y="137160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9144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Satbayev University  ·  CSE6624  ·  Lecture 2  ·  Autumn 2026–2027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65392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18 /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11247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03D73"/>
                </a:solidFill>
                <a:latin typeface="Calibri"/>
                <a:ea typeface="Calibri"/>
                <a:cs typeface="Calibri"/>
              </a:rPr>
              <a:t>Next lecture + AI rule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128016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508760"/>
            <a:ext cx="11247120" cy="1463040"/>
          </a:xfrm>
          <a:prstGeom prst="roundRect">
            <a:avLst/>
          </a:prstGeom>
          <a:solidFill>
            <a:srgbClr val="E8F0F8"/>
          </a:solidFill>
          <a:ln w="1905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529B"/>
                </a:solidFill>
                <a:latin typeface="Calibri"/>
                <a:ea typeface="Calibri"/>
                <a:cs typeface="Calibri"/>
              </a:rPr>
              <a:t>Next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lecture: text, lists, links, and media.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FBF4E0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46B1A"/>
                </a:solidFill>
                <a:latin typeface="Calibri"/>
                <a:ea typeface="Calibri"/>
                <a:cs typeface="Calibri"/>
              </a:rPr>
              <a:t>AI rule (one 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You may use AI, but you must still follow these steps yourself and explain your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A5A5A"/>
                </a:solidFill>
                <a:latin typeface="Calibri"/>
                <a:ea typeface="Calibri"/>
                <a:cs typeface="Calibri"/>
              </a:rPr>
              <a:t>After class rhythm: Practice &amp;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983480"/>
            <a:ext cx="11521440" cy="146304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983480"/>
            <a:ext cx="73152" cy="146304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074920"/>
            <a:ext cx="111556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Next we continue with the topic on this slide. After the lecture block comes Practice &amp; Lab. You may use AI, but you must still follow the slide steps yourself and explain your result. Pack your folder. See you next week.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tbayev-logo-header-4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590787" cy="640080"/>
          </a:xfrm>
          <a:prstGeom prst="rect">
            <a:avLst/>
          </a:prstGeom>
        </p:spPr>
      </p:pic>
      <p:pic>
        <p:nvPicPr>
          <p:cNvPr id="5" name="Picture 4" descr="satbayev-logo-shield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20040"/>
            <a:ext cx="64231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 you next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D0E4F5"/>
                </a:solidFill>
                <a:latin typeface="Calibri"/>
                <a:ea typeface="Calibri"/>
                <a:cs typeface="Calibri"/>
              </a:rPr>
              <a:t>Keep your folder. Re-read the last task steps if anything is unclear.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3657600"/>
            <a:ext cx="2286000" cy="4572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CSE6624  ·  Lecture 2  ·  HTML Semantic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B8D0E8"/>
                </a:solidFill>
                <a:latin typeface="Calibri"/>
                <a:ea typeface="Calibri"/>
                <a:cs typeface="Calibri"/>
              </a:rPr>
              <a:t>Shoiynbek Temirlan Armanuly  ·  Senior Lecturer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90B0D0"/>
                </a:solidFill>
                <a:latin typeface="Calibri"/>
                <a:ea typeface="Calibri"/>
                <a:cs typeface="Calibri"/>
              </a:rPr>
              <a:t>Satbayev University  ·  Autumn 2026–2027  ·  Almaty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
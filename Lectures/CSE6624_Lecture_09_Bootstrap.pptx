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(улыбнись — Hello + номер лекции + тема.)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 полоску; укажи на 15/5/25/5)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What Bootstrap 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Grid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Utilities and components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Custom CSS still matters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(25 мин. Ходи по рядам. Стой.)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(три ошибки)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(done checklist)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(next + AI — без Questions)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(улыбка. Без Questions.)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1704415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SATBAYEV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58368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D0E0F0"/>
                </a:solidFill>
                <a:latin typeface="Calibri"/>
                <a:ea typeface="Calibri"/>
                <a:cs typeface="Calibri"/>
              </a:rPr>
              <a:t>Automation and Information Technology  ·  Software Engineering</a:t>
            </a:r>
          </a:p>
        </p:txBody>
      </p:sp>
      <p:pic>
        <p:nvPicPr>
          <p:cNvPr id="7" name="Picture 6" descr="satbayev-logo-shiel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64592"/>
            <a:ext cx="562021" cy="960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1691640"/>
            <a:ext cx="1463040" cy="38404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691640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Introduction to Web Programming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Lecture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Bootstrap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77639"/>
            <a:ext cx="3200400" cy="36576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Shoiynbek Temirlan Armanuly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Senior Lecturer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Programme: 6B06102 Computer Science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29B"/>
                </a:solidFill>
                <a:latin typeface="Calibri"/>
                <a:ea typeface="Calibri"/>
                <a:cs typeface="Calibri"/>
              </a:rPr>
              <a:t>Autumn 2026–2027  ·  Almaty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City University / Satbayev University  ·  English-taught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9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Today's plan  ·  50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417320"/>
            <a:ext cx="11338560" cy="8046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581912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18488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508760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~15 min — I explain (diagrams + you listen)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1819656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 read the strips. You look at the diagrams. No typing yet.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276856"/>
            <a:ext cx="11338560" cy="804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441448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478024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368296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~5 min — Demo on these slides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2679192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Code / UI is ON the slides. I only point. Do not open other folders.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136392"/>
            <a:ext cx="11338560" cy="8046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300984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337560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227832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~25 min — You do the task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538728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Step-by-step ON the slides. Follow every click. If stuck: read the previous step again.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995928"/>
            <a:ext cx="11338560" cy="804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4160520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197096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087368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~5 min — What to submit / next lecture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398264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Photo proof + show neighbour. One-line preview of next week.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493776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93776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502920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Today's plan is fixed to fifty minutes. About fifteen minutes I explain with diagrams. About five minutes I point at demo code on these slides — you watch. About twenty-five minutes you follow the task steps on the slides. The last five minutes cover what to submit and what comes next. There is no separate questions block — if stuck, read the previous step again.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9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3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What Bootstrap 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9_What_Bootstrap_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What Bootstrap is. First: Popular CSS framework: grid + components + utilities. Second: Speeds up consistent UI — not a substitute for HTML understanding. Also notice: You still need semantics and accessibility.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9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Grid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9_Grid_syst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Grid system. First: container / container-fluid. Second: row + col-* on a 12-column grid. Also notice: Responsive columns: col-12 col-md-6 col-lg-4.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9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5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Utilities and components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9_Utilities_and_compon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Utilities and components. First: Spacing: m-*, p-*; display/flex helpers. Second: Colors and typography utilities. Also notice: Components: navbar, card, btn, alert, modal (intro).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9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Custom CSS still matters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9_Custom_CSS_still_mat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Custom CSS still matters. First: Brand colors, unique layouts, fine-tuning. Second: Do not fight the framework — extend it. Also notice: Override carefully; watch specificity.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9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7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1/2 — CDN in head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527048"/>
            <a:ext cx="10917936" cy="302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&lt;link href="https://cdn.jsdelivr.net/npm/bootstrap@5.3.3/dist/css/bootstrap.min.css"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  rel="stylesheet"&gt;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Internet needed once to load CDN CSS.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code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9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8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2/2 — Navbar + cards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527048"/>
            <a:ext cx="10917936" cy="302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&lt;nav class="navbar navbar-dark bg-primary px-3"&gt;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&lt;a class="navbar-brand" href="#"&gt;MyApp&lt;/a&gt;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&lt;div&gt;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&lt;a class="nav-link d-inline text-white" href="#"&gt;Home&lt;/a&gt;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&lt;a class="nav-link d-inline text-white" href="#"&gt;About&lt;/a&gt;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&lt;/div&gt;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&lt;/nav&gt;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&lt;div class="container mt-4"&gt;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&lt;div class="row g-3"&gt;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&lt;div class="col-md-4"&gt;&lt;div class="card p-3"&gt;A&lt;/div&gt;&lt;/div&gt;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&lt;div class="col-md-4"&gt;&lt;div class="card p-3"&gt;B&lt;/div&gt;&lt;/div&gt;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&lt;div class="col-md-4"&gt;&lt;div class="card p-3"&gt;C&lt;/div&gt;&lt;/div&gt;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&lt;/div&gt;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&lt;/div&gt;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Resize — col-md-4 columns stack on small screens.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code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9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9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TASK  ·  ~25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47120" cy="1097280"/>
          </a:xfrm>
          <a:prstGeom prst="roundRect">
            <a:avLst/>
          </a:prstGeom>
          <a:solidFill>
            <a:srgbClr val="E6F5EC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916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B7A4E"/>
                </a:solidFill>
                <a:latin typeface="Calibri"/>
                <a:ea typeface="Calibri"/>
                <a:cs typeface="Calibri"/>
              </a:rPr>
              <a:t>TASK — Bootstrap starter layout (~25 min)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Work on YOUR laptop now. Follow the numbered steps on the next slides.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73552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1927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Suggested folder name: lecture09-yourname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12464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58184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If stuck: read the previous step again. Do not skip steps.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51376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9709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AI is optional later — first follow the steps yourself.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Now you work. The next slides are idiot-proof steps — one action after another. I will walk the room while you build. If something fails, open the If it does not work slide after the steps. Do not invent your own path during these twenty-five minutes.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9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10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1 of 5  ·  New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New page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lecture09-yourname/index.html with DOCTYPE + head + body.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1.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9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11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2 of 5  ·  Paste CDN link in head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Paste CDN link in head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Exact link from DEMO 1.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2.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9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3 of 5  ·  Paste navbar + container row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Paste navbar + container row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From DEMO 2. Save.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3.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9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13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4 of 5  ·  Open + resize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Open + resize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Chrome → narrow window → cards stack.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4.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9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5 of 5  ·  Utility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Utility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Point at mt-4 or p-3 — that is a Bootstrap utility class.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5.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9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15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If it does not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Three common mistakes — fix these before asking for help: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87451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4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039111"/>
            <a:ext cx="1188720" cy="457200"/>
          </a:xfrm>
          <a:prstGeom prst="roundRect">
            <a:avLst/>
          </a:prstGeom>
          <a:solidFill>
            <a:srgbClr val="C4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07568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03911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CDN link broken/typo — page unstyled; re-copy DEMO 1.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4319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907791"/>
            <a:ext cx="1188720" cy="45720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4436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290779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No internet — CDN will not load; ask instructor for offline CSS if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1187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3776471"/>
            <a:ext cx="1188720" cy="457200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1304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77647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Forgot container/row/col — layout will not stack correctly.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Most failures are save mistakes, wrong file names, or skipped steps. Read these three mistakes aloud if needed. Fix one thing, save, refresh the browser, then re-check the success condition. Still stuck after that — raise your hand; bring your screen.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9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DONE — what to submit / show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11247120" cy="548640"/>
          </a:xfrm>
          <a:prstGeom prst="roundRect">
            <a:avLst/>
          </a:prstGeom>
          <a:solidFill>
            <a:srgbClr val="E6F5EC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157276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59105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59105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Browser photo stacked + wide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10312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221284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23113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23113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Show neighbour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85292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87121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87121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Keep folder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are done when the checklist is true. Take a photo of the browser and of the file or folder. Show your neighbour for ten seconds. Upload later if the LMS asks — keep the folder on your Desktop.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9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17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Next lecture + AI 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47120" cy="146304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459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29B"/>
                </a:solidFill>
                <a:latin typeface="Calibri"/>
                <a:ea typeface="Calibri"/>
                <a:cs typeface="Calibri"/>
              </a:rPr>
              <a:t>Next lecture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5740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Next lecture: JavaScript basics.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11247120" cy="1371600"/>
          </a:xfrm>
          <a:prstGeom prst="roundRect">
            <a:avLst/>
          </a:prstGeom>
          <a:solidFill>
            <a:srgbClr val="FBF4E0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375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46B1A"/>
                </a:solidFill>
                <a:latin typeface="Calibri"/>
                <a:ea typeface="Calibri"/>
                <a:cs typeface="Calibri"/>
              </a:rPr>
              <a:t>AI rule (one line)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49039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may use AI, but you must still follow these steps yourself and explain your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After class rhythm: Practice &amp; Lab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Next we continue with the topic on this slide. After the lecture block comes Practice &amp; Lab. You may use AI, but you must still follow the slide steps yourself and explain your result. Pack your folder. See you next week.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590787" cy="640080"/>
          </a:xfrm>
          <a:prstGeom prst="rect">
            <a:avLst/>
          </a:prstGeom>
        </p:spPr>
      </p:pic>
      <p:pic>
        <p:nvPicPr>
          <p:cNvPr id="5" name="Picture 4" descr="satbayev-logo-shiel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320040"/>
            <a:ext cx="64231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1945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See you next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D0E4F5"/>
                </a:solidFill>
                <a:latin typeface="Calibri"/>
                <a:ea typeface="Calibri"/>
                <a:cs typeface="Calibri"/>
              </a:rPr>
              <a:t>Keep your folder. Re-read the last task steps if anything is unclear.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3657600"/>
            <a:ext cx="228600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9  ·  Bootstrap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B8D0E8"/>
                </a:solidFill>
                <a:latin typeface="Calibri"/>
                <a:ea typeface="Calibri"/>
                <a:cs typeface="Calibri"/>
              </a:rPr>
              <a:t>Shoiynbek Temirlan Armanuly  ·  Senior Lecturer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90B0D0"/>
                </a:solidFill>
                <a:latin typeface="Calibri"/>
                <a:ea typeface="Calibri"/>
                <a:cs typeface="Calibri"/>
              </a:rPr>
              <a:t>Satbayev University  ·  Autumn 2026–2027  ·  Almaty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
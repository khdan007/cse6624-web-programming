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(улыбнись — Hello + номер лекции + тема.)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 полоску; укажи на 15/5/25/5)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(прочитай) Укажи на ключевые пункты: Functions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(прочитай) Укажи на ключевые пункты: Arrays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(прочитай) Укажи на ключевые пункты: Objects and 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(прочитай) Укажи на ключевые пункты: Pattern: data → UI list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(указывай на код/UI; не открывай другие файлы)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(указывай на код/UI; не открывай другие файлы)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(25 мин. Ходи по рядам. Стой.)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(три ошибки)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(done checklist)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(next + AI — без Questions)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(улыбка. Без Questions.)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1704415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0" y="32004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SATBAYEV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58368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D0E0F0"/>
                </a:solidFill>
                <a:latin typeface="Calibri"/>
                <a:ea typeface="Calibri"/>
                <a:cs typeface="Calibri"/>
              </a:rPr>
              <a:t>Automation and Information Technology  ·  Software Engineering</a:t>
            </a:r>
          </a:p>
        </p:txBody>
      </p:sp>
      <p:pic>
        <p:nvPicPr>
          <p:cNvPr id="7" name="Picture 6" descr="satbayev-logo-shield-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164592"/>
            <a:ext cx="562021" cy="960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1691640"/>
            <a:ext cx="1463040" cy="38404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19072"/>
            <a:ext cx="1463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691640"/>
            <a:ext cx="8229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Introduction to Web Programming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Lecture 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889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Functions, Arrays, Objects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77639"/>
            <a:ext cx="3200400" cy="36576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Shoiynbek Temirlan Armanuly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Senior Lecturer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Programme: 6B06102 Computer Science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521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0529B"/>
                </a:solidFill>
                <a:latin typeface="Calibri"/>
                <a:ea typeface="Calibri"/>
                <a:cs typeface="Calibri"/>
              </a:rPr>
              <a:t>Autumn 2026–2027  ·  Almaty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City University / Satbayev University  ·  English-taught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11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2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Today's plan  ·  50 minutes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" y="1417320"/>
            <a:ext cx="11338560" cy="804672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1581912"/>
            <a:ext cx="1051560" cy="475488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618488"/>
            <a:ext cx="1051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508760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~15 min — I explain (diagrams + you listen)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1819656"/>
            <a:ext cx="9784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I read the strips. You look at the diagrams. No typing yet.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2276856"/>
            <a:ext cx="11338560" cy="80467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2441448"/>
            <a:ext cx="1051560" cy="475488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478024"/>
            <a:ext cx="1051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2368296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~5 min — Demo on these slides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2679192"/>
            <a:ext cx="9784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Code / UI is ON the slides. I only point. Do not open other folders.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3136392"/>
            <a:ext cx="11338560" cy="804672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20" y="3300984"/>
            <a:ext cx="1051560" cy="475488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337560"/>
            <a:ext cx="1051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25 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3227832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~25 min — You do the task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3538728"/>
            <a:ext cx="9784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Step-by-step ON the slides. Follow every click. If stuck: read the previous step again.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3995928"/>
            <a:ext cx="11338560" cy="80467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" y="4160520"/>
            <a:ext cx="1051560" cy="475488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197096"/>
            <a:ext cx="1051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4087368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~5 min — What to submit / next lecture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4398264"/>
            <a:ext cx="9784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Photo proof + show neighbour. One-line preview of next week.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" y="493776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493776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502920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Today's plan is fixed to fifty minutes. About fifteen minutes I explain with diagrams. About five minutes I point at demo code on these slides — you watch. About twenty-five minutes you follow the task steps on the slides. The last five minutes cover what to submit and what comes next. There is no separate questions block — if stuck, read the previous step again.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11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3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Functions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SE6624_11_Fun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11155680" cy="3337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4956048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4956048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5047488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 we examine Functions. First: function name(params) { return value; }. Second: Parameters in; return out — pure when possible. Also notice: Arrow functions: const add = (a, b) =&gt; a + b. So the key idea is precise terminology — these distinctions return in demos, labs, and assessment.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11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4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Arrays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SE6624_11_Arra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11155680" cy="3337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4956048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4956048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5047488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 we examine Arrays. First: Ordered lists: const xs = [1, 2, 3]. Second: push, length; prefer map/filter over manual loops when clear. Also notice: map — transform; filter — keep some; find — first match. So the key idea is precise terminology — these distinctions return in demos, labs, and assessment.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11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5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Objects and JSON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SE6624_11_Objects_and_J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11155680" cy="3337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4956048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4956048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5047488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 we examine Objects and JSON. First: Objects: { key: value } — dictionaries of properties. Second: Dot access person.name; brackets person["name"]. Also notice: Arrays of objects = common UI data shape. So the key idea is precise terminology — these distinctions return in demos, labs, and assessment.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11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6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Pattern: data → UI list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SE6624_11_Pattern__data___UI_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11155680" cy="3337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4956048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4956048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5047488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 we examine Pattern: data → UI list. First: Keep data in an array of objects. Second: Map to HTML strings or DOM nodes (next week). Also notice: Single source of truth beats copy-paste cards. So the key idea is precise terminology — these distinctions return in demos, labs, and assessment.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11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7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DEMO 1/2 — Data + function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11247120" cy="324612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527048"/>
            <a:ext cx="10917936" cy="3026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const cities = ["Almaty", "Astana", "Shymkent", "Karaganda"];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function line(city) {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return "• " + city.toUpperCase();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const btn = document.querySelector("#btn");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const out = document.querySelector("#out");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btn.addEventListener("click", () =&gt; {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out.textContent = cities.map(line).join("\n");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});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09160"/>
            <a:ext cx="11247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Function formats one item; map builds the list.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Please watch this demo on the slide — do not type yet. I will point at the code so you see the exact target. In the task block you will reproduce these steps on your laptop. Everything you need is here; you do not leave this presentation.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11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8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DEMO 2/2 — HTML shell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11247120" cy="324612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527048"/>
            <a:ext cx="10917936" cy="3026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&lt;button id="btn"&gt;Show cities&lt;/button&gt;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&lt;pre id="out"&gt;&lt;/pre&gt;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&lt;script src="js/script.js"&gt;&lt;/script&gt;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09160"/>
            <a:ext cx="11247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pre keeps line breaks visible.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Please watch this demo on the slide — do not type yet. I will point at the code so you see the exact target. In the task block you will reproduce these steps on your laptop. Everything you need is here; you do not leave this presentation.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11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9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TASK  ·  ~25 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508760"/>
            <a:ext cx="11247120" cy="1097280"/>
          </a:xfrm>
          <a:prstGeom prst="roundRect">
            <a:avLst/>
          </a:prstGeom>
          <a:solidFill>
            <a:srgbClr val="E6F5EC"/>
          </a:solidFill>
          <a:ln w="19050">
            <a:solidFill>
              <a:srgbClr val="1B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69164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1B7A4E"/>
                </a:solidFill>
                <a:latin typeface="Calibri"/>
                <a:ea typeface="Calibri"/>
                <a:cs typeface="Calibri"/>
              </a:rPr>
              <a:t>TASK — functions + array mini (~25 min)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834640"/>
            <a:ext cx="11247120" cy="384048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880360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Work on YOUR laptop now. Follow the numbered steps on the next slides.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73552"/>
            <a:ext cx="11247120" cy="384048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319272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Suggested folder name: lecture11-yourname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712464"/>
            <a:ext cx="11247120" cy="384048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758184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If stuck: read the previous step again. Do not skip steps.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151376"/>
            <a:ext cx="11247120" cy="384048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197096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AI is optional later — first follow the steps yourself.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Now you work. The next slides are idiot-proof steps — one action after another. I will walk the room while you build. If something fails, open the If it does not work slide after the steps. Do not invent your own path during these twenty-five minutes.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11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10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1 of 5  ·  Setup lecture11-yourname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Setup lecture11-yourname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index.html + js/script.js linked at end of body.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1.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11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11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2 of 5  ·  Paste HTML shell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Paste HTML shell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Button + pre#out from DEMO.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2.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11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12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3 of 5  ·  Paste JS — change cities to yours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Paste JS — change cities to yours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4 strings. Keep the function + map pattern.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3.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11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13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4 of 5  ·  Run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Run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Open Chrome → click → see 4 uppercased lines.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4.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11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14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5 of 5  ·  Explain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Explain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Tell neighbour in one sentence what map does.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5.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11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15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If it does not 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Three common mistakes — fix these before asking for help: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874519"/>
            <a:ext cx="11247120" cy="7772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C46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" y="2039111"/>
            <a:ext cx="1188720" cy="457200"/>
          </a:xfrm>
          <a:prstGeom prst="roundRect">
            <a:avLst/>
          </a:prstGeom>
          <a:solidFill>
            <a:srgbClr val="C4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075687"/>
            <a:ext cx="1188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Mistake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039111"/>
            <a:ext cx="9509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Used for-loop incorrectly and broke syntax — start from DEMO JS again.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743199"/>
            <a:ext cx="11247120" cy="7772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2907791"/>
            <a:ext cx="1188720" cy="45720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944367"/>
            <a:ext cx="1188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Mistake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2907791"/>
            <a:ext cx="9509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out is null — id mismatch.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11879"/>
            <a:ext cx="11247120" cy="7772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B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4360" y="3776471"/>
            <a:ext cx="1188720" cy="457200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813047"/>
            <a:ext cx="1188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Mistake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776471"/>
            <a:ext cx="9509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Clicked nothing appears — open Console for red errors.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Most failures are save mistakes, wrong file names, or skipped steps. Read these three mistakes aloud if needed. Fix one thing, save, refresh the browser, then re-check the success condition. Still stuck after that — raise your hand; bring your screen.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11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16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DONE — what to submit / show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63040"/>
            <a:ext cx="11247120" cy="548640"/>
          </a:xfrm>
          <a:prstGeom prst="roundRect">
            <a:avLst/>
          </a:prstGeom>
          <a:solidFill>
            <a:srgbClr val="E6F5EC"/>
          </a:solidFill>
          <a:ln w="19050">
            <a:solidFill>
              <a:srgbClr val="1B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4360" y="1572768"/>
            <a:ext cx="502920" cy="329184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591056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591056"/>
            <a:ext cx="10149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Browser photo of list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103120"/>
            <a:ext cx="11247120" cy="5486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4360" y="2212848"/>
            <a:ext cx="502920" cy="329184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231136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231136"/>
            <a:ext cx="10149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Neighbour heard your map sentence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743200"/>
            <a:ext cx="11247120" cy="5486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2852928"/>
            <a:ext cx="502920" cy="329184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871216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2871216"/>
            <a:ext cx="10149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Keep folder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You are done when the checklist is true. Take a photo of the browser and of the file or folder. Show your neighbour for ten seconds. Upload later if the LMS asks — keep the folder on your Desktop.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11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17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Next lecture + AI rule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508760"/>
            <a:ext cx="11247120" cy="1463040"/>
          </a:xfrm>
          <a:prstGeom prst="roundRect">
            <a:avLst/>
          </a:prstGeom>
          <a:solidFill>
            <a:srgbClr val="E8F0F8"/>
          </a:solidFill>
          <a:ln w="1905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64592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0529B"/>
                </a:solidFill>
                <a:latin typeface="Calibri"/>
                <a:ea typeface="Calibri"/>
                <a:cs typeface="Calibri"/>
              </a:rPr>
              <a:t>Next lecture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05740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Next lecture: DOM and events.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200400"/>
            <a:ext cx="11247120" cy="1371600"/>
          </a:xfrm>
          <a:prstGeom prst="roundRect">
            <a:avLst/>
          </a:prstGeom>
          <a:solidFill>
            <a:srgbClr val="FBF4E0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33756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46B1A"/>
                </a:solidFill>
                <a:latin typeface="Calibri"/>
                <a:ea typeface="Calibri"/>
                <a:cs typeface="Calibri"/>
              </a:rPr>
              <a:t>AI rule (one line)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49039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You may use AI, but you must still follow these steps yourself and explain your result.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After class rhythm: Practice &amp; Lab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Next we continue with the topic on this slide. After the lecture block comes Practice &amp; Lab. You may use AI, but you must still follow the slide steps yourself and explain your result. Pack your folder. See you next week.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590787" cy="640080"/>
          </a:xfrm>
          <a:prstGeom prst="rect">
            <a:avLst/>
          </a:prstGeom>
        </p:spPr>
      </p:pic>
      <p:pic>
        <p:nvPicPr>
          <p:cNvPr id="5" name="Picture 4" descr="satbayev-logo-shield-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320040"/>
            <a:ext cx="642310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19456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See you next week.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D0E4F5"/>
                </a:solidFill>
                <a:latin typeface="Calibri"/>
                <a:ea typeface="Calibri"/>
                <a:cs typeface="Calibri"/>
              </a:rPr>
              <a:t>Keep your folder. Re-read the last task steps if anything is unclear.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0" y="3657600"/>
            <a:ext cx="228600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11  ·  Functions, Arrays, Objects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B8D0E8"/>
                </a:solidFill>
                <a:latin typeface="Calibri"/>
                <a:ea typeface="Calibri"/>
                <a:cs typeface="Calibri"/>
              </a:rPr>
              <a:t>Shoiynbek Temirlan Armanuly  ·  Senior Lecturer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607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90B0D0"/>
                </a:solidFill>
                <a:latin typeface="Calibri"/>
                <a:ea typeface="Calibri"/>
                <a:cs typeface="Calibri"/>
              </a:rPr>
              <a:t>Satbayev University  ·  Autumn 2026–2027  ·  Almaty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